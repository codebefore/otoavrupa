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38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66">
                <a:alpha val="90000"/>
              </a:srgbClr>
            </a:gs>
            <a:gs pos="100000">
              <a:srgbClr val="006699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Araç Servis Mobil Uygulaması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62050"/>
            <a:ext cx="108582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950"/>
              </a:spcAft>
            </a:pPr>
            <a:r>
              <a:rPr sz="1435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Müşteri Sunumu - OtoAvrupa MVP Projesi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666733" y="2076449"/>
            <a:ext cx="266693" cy="266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6298" y="1981199"/>
            <a:ext cx="21525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Mevcut Sorunlar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76524"/>
            <a:ext cx="5143371" cy="4495799"/>
          </a:xfrm>
          <a:prstGeom prst="roundRect">
            <a:avLst>
              <a:gd name="adj" fmla="val 508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4852" y="2914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525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23" y="3057525"/>
            <a:ext cx="30" cy="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5252"/>
                </a:solidFill>
              </a:rPr>
              <a:t>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3676649"/>
            <a:ext cx="24" cy="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5252"/>
                </a:solidFill>
              </a:rPr>
              <a:t>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318" y="3676649"/>
            <a:ext cx="35908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Müşteriler telefon ederek bilgi almak zorunda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904852" y="4152899"/>
            <a:ext cx="285742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466" y="4152899"/>
            <a:ext cx="189542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Servis süreci şeffaf değil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904852" y="4629150"/>
            <a:ext cx="285742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33466" y="4629150"/>
            <a:ext cx="20859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Sürekli bilgi sorusu geliyor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904852" y="5105400"/>
            <a:ext cx="228594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5105400"/>
            <a:ext cx="364798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Müşteri memnuniyetsizliği ve operasyonel yük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6381590" y="2076449"/>
            <a:ext cx="200019" cy="2666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24481" y="1981199"/>
            <a:ext cx="316222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Çözüm: Mobil Uygulama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1590" y="2676524"/>
            <a:ext cx="5143371" cy="4495799"/>
          </a:xfrm>
          <a:prstGeom prst="roundRect">
            <a:avLst>
              <a:gd name="adj" fmla="val 508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19709" y="2914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6800679" y="3057525"/>
            <a:ext cx="219069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6619709" y="3676649"/>
            <a:ext cx="17144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34026" y="3676649"/>
            <a:ext cx="41432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Müşteriler telefon etmek yerine uygulama üzerinden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6619709" y="4152899"/>
            <a:ext cx="257168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9749" y="4152899"/>
            <a:ext cx="281932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Araçlarının </a:t>
            </a:r>
            <a:r>
              <a:rPr sz="1196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güncel durumunu</a:t>
            </a: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görür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619709" y="4629150"/>
            <a:ext cx="228594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91175" y="4629150"/>
            <a:ext cx="245738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Bakım/servis geçmişini</a:t>
            </a: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inceler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619709" y="5105400"/>
            <a:ext cx="228594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91175" y="5105400"/>
            <a:ext cx="281932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Servis fişi ve fatura PDF'lerine ulaşır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6619709" y="5581649"/>
            <a:ext cx="200019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62600" y="5581649"/>
            <a:ext cx="135251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Anlık bildirim alır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33" y="6438899"/>
            <a:ext cx="34098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OtoAvrupa | Araç Servis Takip Mobil Uygulaması (MVP)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66">
                <a:alpha val="90000"/>
              </a:srgbClr>
            </a:gs>
            <a:gs pos="100000">
              <a:srgbClr val="006699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Özellikler ve Teknoloji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666733" y="1447800"/>
            <a:ext cx="266693" cy="266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6298" y="1352549"/>
            <a:ext cx="265740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Müşteri Ne Görecek?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47874"/>
            <a:ext cx="2476438" cy="1581149"/>
          </a:xfrm>
          <a:prstGeom prst="roundRect">
            <a:avLst>
              <a:gd name="adj" fmla="val 144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7228" y="22383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009624" y="2362199"/>
            <a:ext cx="17144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76338" y="2333624"/>
            <a:ext cx="12477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Telefon ile Giriş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2857500"/>
            <a:ext cx="20954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SMS doğrulama (OTP), şifre yok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66" y="2047874"/>
            <a:ext cx="2476438" cy="1581149"/>
          </a:xfrm>
          <a:prstGeom prst="roundRect">
            <a:avLst>
              <a:gd name="adj" fmla="val 144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4161" y="22383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3647983" y="2362199"/>
            <a:ext cx="228594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43271" y="2333624"/>
            <a:ext cx="9143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Araç Listesi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4161" y="2857500"/>
            <a:ext cx="2095447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Tüm araçları görür (plaka, model, şase)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819524"/>
            <a:ext cx="2476438" cy="1581149"/>
          </a:xfrm>
          <a:prstGeom prst="roundRect">
            <a:avLst>
              <a:gd name="adj" fmla="val 144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228" y="40100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981050" y="4133849"/>
            <a:ext cx="228594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76338" y="4105274"/>
            <a:ext cx="116202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Güncel Durum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228" y="4629150"/>
            <a:ext cx="20954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Servis / İşlemde / Hazır / Teslim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3666" y="3819524"/>
            <a:ext cx="2476438" cy="1581149"/>
          </a:xfrm>
          <a:prstGeom prst="roundRect">
            <a:avLst>
              <a:gd name="adj" fmla="val 1445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24161" y="40100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3647983" y="4133849"/>
            <a:ext cx="228594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43271" y="4105274"/>
            <a:ext cx="120964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Bakım Geçmişi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4161" y="4629150"/>
            <a:ext cx="2095447" cy="4286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Tüm servis kayıtları (tarih, km, işlemler)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581649"/>
            <a:ext cx="2476438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7228" y="57721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981050" y="5895974"/>
            <a:ext cx="228594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76338" y="5867399"/>
            <a:ext cx="103819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PDF Belgeler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228" y="6391275"/>
            <a:ext cx="20954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Servis fişi ve faturayı indirebilir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3666" y="5581649"/>
            <a:ext cx="2476438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24161" y="57721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3657508" y="5895974"/>
            <a:ext cx="200019" cy="228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143271" y="5867399"/>
            <a:ext cx="87627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Bildirimler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4161" y="6391275"/>
            <a:ext cx="209544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Araç servise alındı, hazır, teslim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6381590" y="1447800"/>
            <a:ext cx="333366" cy="26669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7828" y="1352549"/>
            <a:ext cx="295267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Kullanılan Teknolojiler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1590" y="2047874"/>
            <a:ext cx="5143371" cy="4905375"/>
          </a:xfrm>
          <a:prstGeom prst="roundRect">
            <a:avLst>
              <a:gd name="adj" fmla="val 466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19709" y="22955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81C78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772105" y="2419349"/>
            <a:ext cx="171445" cy="2286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38819" y="2286000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Mobil Uygulama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8819" y="2590799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Flutter (iOS + Android tek uygulama)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19709" y="30765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81C78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762580" y="3200400"/>
            <a:ext cx="200019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38819" y="3076574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Bildirimler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8819" y="3381375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Firebase (Ücretsiz, güvenilir)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19709" y="38671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81C78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6772105" y="3990974"/>
            <a:ext cx="171445" cy="2286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38819" y="3857625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8819" y="4162424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.NET 10 (Modern, hızlı)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19709" y="46577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81C78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6762580" y="4781549"/>
            <a:ext cx="200019" cy="228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238819" y="4648200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8819" y="4952999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PostgreSQL (Güvenilir, ücretsiz)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19709" y="54387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81C78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6743531" y="5562600"/>
            <a:ext cx="228594" cy="2286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238819" y="5429250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PDF Depolama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8819" y="5734050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Bunny.net (Hızlı, CDN dahil)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19709" y="62293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81C78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43531" y="6353174"/>
            <a:ext cx="24" cy="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1C784"/>
                </a:solidFill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38819" y="6219825"/>
            <a:ext cx="404802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8819" y="6524624"/>
            <a:ext cx="40480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Ileti Merkezi (Türk firma, uygun fiyat)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733" y="6915150"/>
            <a:ext cx="34098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OtoAvrupa | Araç Servis Takip Mobil Uygulaması (MVP)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66">
                <a:alpha val="90000"/>
              </a:srgbClr>
            </a:gs>
            <a:gs pos="100000">
              <a:srgbClr val="006699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Entegrasyon ve Güvenlik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666733" y="1447800"/>
            <a:ext cx="200019" cy="266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352549"/>
            <a:ext cx="198115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Nasıl Çalışıyor?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47874"/>
            <a:ext cx="5143371" cy="4952999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4852" y="2286000"/>
            <a:ext cx="1400139" cy="2828925"/>
          </a:xfrm>
          <a:prstGeom prst="roundRect">
            <a:avLst>
              <a:gd name="adj" fmla="val 1632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14417" y="2476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447763" y="2619374"/>
            <a:ext cx="323841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47" y="3190874"/>
            <a:ext cx="101914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Mevcut Sisteminiz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47" y="3800475"/>
            <a:ext cx="1019149" cy="11239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Delta Pro masaüstü uygulaması</a:t>
            </a:r>
            <a:r>
              <a:rPr sz="1104"/>
              <a:t>
</a:t>
            </a: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Servis ekibi tarafından kullanılır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3586" y="2286000"/>
            <a:ext cx="1400139" cy="2828925"/>
          </a:xfrm>
          <a:prstGeom prst="roundRect">
            <a:avLst>
              <a:gd name="adj" fmla="val 1632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52676" y="2476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3095547" y="2619374"/>
            <a:ext cx="285742" cy="285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81230" y="3190874"/>
            <a:ext cx="91437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Entegrasyon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081" y="3543300"/>
            <a:ext cx="1019149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Otomatik API bağlantısı</a:t>
            </a:r>
            <a:r>
              <a:rPr sz="1104"/>
              <a:t>
</a:t>
            </a: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Veri senkronizasyonu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1845" y="2286000"/>
            <a:ext cx="1400139" cy="2828925"/>
          </a:xfrm>
          <a:prstGeom prst="roundRect">
            <a:avLst>
              <a:gd name="adj" fmla="val 1632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935" y="2476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4762380" y="2619374"/>
            <a:ext cx="219069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362340" y="3190874"/>
            <a:ext cx="1019149" cy="5143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Mobil Uygulama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7113" y="3800475"/>
            <a:ext cx="819129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iOS + Android</a:t>
            </a:r>
            <a:r>
              <a:rPr sz="1104"/>
              <a:t>
</a:t>
            </a: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Müşteri erişimi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9664" y="5591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664" y="559117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66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1485862" y="6067424"/>
            <a:ext cx="228594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4852" y="6391275"/>
            <a:ext cx="1400139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Siz Delta Pro'da </a:t>
            </a:r>
            <a:r>
              <a:rPr sz="837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işlem yaparsınız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7923" y="5591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7923" y="559117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66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3095547" y="6067424"/>
            <a:ext cx="285742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33586" y="6391275"/>
            <a:ext cx="1400139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Sistem </a:t>
            </a:r>
            <a:r>
              <a:rPr sz="837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otomatik</a:t>
            </a: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olarak mobil uygulamaya yansır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6182" y="55911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6182" y="559117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66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4743331" y="6067424"/>
            <a:ext cx="257168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71845" y="6391275"/>
            <a:ext cx="1400139" cy="3714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Müşteri </a:t>
            </a:r>
            <a:r>
              <a:rPr sz="837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uygulamadan</a:t>
            </a: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durumu görür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6381590" y="1447800"/>
            <a:ext cx="266693" cy="2666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791155" y="1352549"/>
            <a:ext cx="115249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Güvenlik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1590" y="2047874"/>
            <a:ext cx="5143371" cy="4952999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19709" y="2286000"/>
            <a:ext cx="4667133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762580" y="2457450"/>
            <a:ext cx="171445" cy="1904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29274" y="2428875"/>
            <a:ext cx="101914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Veri Güvenliği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2580" y="2800350"/>
            <a:ext cx="2333566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905452" y="2895600"/>
            <a:ext cx="152396" cy="152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134046" y="2876549"/>
            <a:ext cx="181922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Delta Pro'ya dışarıdan erişim yok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91395" y="2800350"/>
            <a:ext cx="1723981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9334266" y="2895600"/>
            <a:ext cx="190495" cy="152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00959" y="2876549"/>
            <a:ext cx="117154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Sadece okuma işlemi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2580" y="3248024"/>
            <a:ext cx="1247743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6905452" y="3352800"/>
            <a:ext cx="133346" cy="152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114997" y="3324225"/>
            <a:ext cx="75245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Şifreli iletişim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5572" y="3248024"/>
            <a:ext cx="1981150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8248443" y="3352800"/>
            <a:ext cx="190495" cy="152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515137" y="3324225"/>
            <a:ext cx="142871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Müşteri sadece bilgi görür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19709" y="3933824"/>
            <a:ext cx="4667133" cy="1457325"/>
          </a:xfrm>
          <a:prstGeom prst="roundRect">
            <a:avLst>
              <a:gd name="adj" fmla="val 1045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5">
            <a:alphaModFix amt="10000000000"/>
          </a:blip>
          <a:stretch>
            <a:fillRect/>
          </a:stretch>
        </p:blipFill>
        <p:spPr>
          <a:xfrm>
            <a:off x="6762580" y="4114800"/>
            <a:ext cx="190495" cy="19049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048323" y="4076699"/>
            <a:ext cx="124774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Altyapı Güvenliği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62580" y="4448175"/>
            <a:ext cx="1676358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>
            <a:alphaModFix amt="10000000000"/>
          </a:blip>
          <a:stretch>
            <a:fillRect/>
          </a:stretch>
        </p:blipFill>
        <p:spPr>
          <a:xfrm>
            <a:off x="6905452" y="4552949"/>
            <a:ext cx="133346" cy="152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14997" y="4524374"/>
            <a:ext cx="118107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Güvenli sunucu (VPS)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34186" y="4448175"/>
            <a:ext cx="1409664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8677058" y="4552949"/>
            <a:ext cx="133346" cy="1524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886602" y="4524374"/>
            <a:ext cx="91437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HTTPS şifreleme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62580" y="4895849"/>
            <a:ext cx="1838279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7">
            <a:alphaModFix amt="10000000000"/>
          </a:blip>
          <a:stretch>
            <a:fillRect/>
          </a:stretch>
        </p:blipFill>
        <p:spPr>
          <a:xfrm>
            <a:off x="6905452" y="4991100"/>
            <a:ext cx="152396" cy="152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34046" y="4972050"/>
            <a:ext cx="132394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Güvenli SMS doğrulama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96107" y="4895849"/>
            <a:ext cx="1533486" cy="352424"/>
          </a:xfrm>
          <a:prstGeom prst="roundRect">
            <a:avLst>
              <a:gd name="adj" fmla="val 10810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8">
            <a:alphaModFix amt="10000000000"/>
          </a:blip>
          <a:stretch>
            <a:fillRect/>
          </a:stretch>
        </p:blipFill>
        <p:spPr>
          <a:xfrm>
            <a:off x="8838979" y="4991100"/>
            <a:ext cx="133346" cy="1524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048523" y="4972050"/>
            <a:ext cx="103819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Regular backup'lar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733" y="6962775"/>
            <a:ext cx="34098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OtoAvrupa | Araç Servis Takip Mobil Uygulaması (MVP)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66">
                <a:alpha val="90000"/>
              </a:srgbClr>
            </a:gs>
            <a:gs pos="100000">
              <a:srgbClr val="006699">
                <a:alpha val="85000"/>
              </a:srgbClr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650"/>
              </a:spcAft>
            </a:pPr>
            <a:r>
              <a:rPr sz="2870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Zaman Planı ve Maliyet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00000"/>
          </a:blip>
          <a:stretch>
            <a:fillRect/>
          </a:stretch>
        </p:blipFill>
        <p:spPr>
          <a:xfrm>
            <a:off x="666733" y="1447800"/>
            <a:ext cx="238119" cy="2666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7723" y="1352549"/>
            <a:ext cx="340986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6 Haftada Canlıya Alıyoruz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047874"/>
            <a:ext cx="5143371" cy="5972175"/>
          </a:xfrm>
          <a:prstGeom prst="roundRect">
            <a:avLst>
              <a:gd name="adj" fmla="val 44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4852" y="2286000"/>
            <a:ext cx="742931" cy="5076825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169" y="242887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00000"/>
          </a:blip>
          <a:stretch>
            <a:fillRect/>
          </a:stretch>
        </p:blipFill>
        <p:spPr>
          <a:xfrm>
            <a:off x="1133446" y="2867025"/>
            <a:ext cx="285742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3248024"/>
            <a:ext cx="45718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Sistem Analizi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50" y="3752849"/>
            <a:ext cx="590535" cy="695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Delta Pro sisteminizi analiz ediyoruz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5882" y="2286000"/>
            <a:ext cx="742931" cy="5076825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199" y="242887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00000"/>
          </a:blip>
          <a:stretch>
            <a:fillRect/>
          </a:stretch>
        </p:blipFill>
        <p:spPr>
          <a:xfrm>
            <a:off x="1885902" y="2867025"/>
            <a:ext cx="361940" cy="285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8754" y="3248024"/>
            <a:ext cx="45718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Teknik Altyapı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1605" y="3752849"/>
            <a:ext cx="571485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Sistem altyapısını kuruyoruz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76438" y="2286000"/>
            <a:ext cx="742931" cy="5076825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1230" y="242887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00000"/>
          </a:blip>
          <a:stretch>
            <a:fillRect/>
          </a:stretch>
        </p:blipFill>
        <p:spPr>
          <a:xfrm>
            <a:off x="2705032" y="2867025"/>
            <a:ext cx="285742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38339" y="3248024"/>
            <a:ext cx="8191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Entegrasyon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5012" y="3524250"/>
            <a:ext cx="685782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Delta Pro ile entegrasyon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57468" y="2286000"/>
            <a:ext cx="742931" cy="5076825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1785" y="242887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00000"/>
          </a:blip>
          <a:stretch>
            <a:fillRect/>
          </a:stretch>
        </p:blipFill>
        <p:spPr>
          <a:xfrm>
            <a:off x="3524161" y="2867025"/>
            <a:ext cx="219069" cy="285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295567" y="3248024"/>
            <a:ext cx="6762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Geliştirme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2716" y="3524250"/>
            <a:ext cx="552436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Mobil uygulama geliştirme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38499" y="2286000"/>
            <a:ext cx="742931" cy="5076825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816" y="242887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5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00000"/>
          </a:blip>
          <a:stretch>
            <a:fillRect/>
          </a:stretch>
        </p:blipFill>
        <p:spPr>
          <a:xfrm>
            <a:off x="4267093" y="2867025"/>
            <a:ext cx="285742" cy="2857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105172" y="3248024"/>
            <a:ext cx="62863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Test &amp; Düzeltme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6598" y="3752849"/>
            <a:ext cx="66673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Test ve düzeltmeler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29054" y="2286000"/>
            <a:ext cx="742931" cy="5076825"/>
          </a:xfrm>
          <a:prstGeom prst="roundRect">
            <a:avLst>
              <a:gd name="adj" fmla="val 30769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3846" y="2428875"/>
            <a:ext cx="12382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6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00000"/>
          </a:blip>
          <a:stretch>
            <a:fillRect/>
          </a:stretch>
        </p:blipFill>
        <p:spPr>
          <a:xfrm>
            <a:off x="5057648" y="2867025"/>
            <a:ext cx="285742" cy="2857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29074" y="3248024"/>
            <a:ext cx="3428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Yayın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4777" y="3524250"/>
            <a:ext cx="571485" cy="695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App Store'a gönderme + canlı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852" y="7553324"/>
            <a:ext cx="46671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1300"/>
              </a:spcBef>
              <a:spcAft>
                <a:spcPts val="0"/>
              </a:spcAft>
            </a:pPr>
            <a:r>
              <a:rPr sz="956" b="0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Not: App Store onay süreleri dahil.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00000"/>
          </a:blip>
          <a:stretch>
            <a:fillRect/>
          </a:stretch>
        </p:blipFill>
        <p:spPr>
          <a:xfrm>
            <a:off x="6381590" y="1447800"/>
            <a:ext cx="304792" cy="2666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19729" y="1352549"/>
            <a:ext cx="14001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4FC3F7"/>
                </a:solidFill>
                <a:latin typeface="Source Sans Pro"/>
                <a:rFonts ascii="Source Sans Pro" hAnsi="Source Sans Pro" eastAsia="Source Sans Pro" cs="Source Sans Pro"/>
              </a:rPr>
              <a:t>Yıll Maliyet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1590" y="2047874"/>
            <a:ext cx="5143371" cy="5972175"/>
          </a:xfrm>
          <a:prstGeom prst="roundRect">
            <a:avLst>
              <a:gd name="adj" fmla="val 4444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19709" y="2286000"/>
            <a:ext cx="4667133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00000"/>
          </a:blip>
          <a:stretch>
            <a:fillRect/>
          </a:stretch>
        </p:blipFill>
        <p:spPr>
          <a:xfrm>
            <a:off x="6762580" y="2438400"/>
            <a:ext cx="190495" cy="1904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048323" y="2419349"/>
            <a:ext cx="8477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Sunucu (VPS)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9614" y="2400300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₺5.000,00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19709" y="2914650"/>
            <a:ext cx="4667133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>
            <a:alphaModFix amt="10000000000"/>
          </a:blip>
          <a:stretch>
            <a:fillRect/>
          </a:stretch>
        </p:blipFill>
        <p:spPr>
          <a:xfrm>
            <a:off x="6762580" y="3067050"/>
            <a:ext cx="142871" cy="1904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000699" y="3047999"/>
            <a:ext cx="10477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Apple Developer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9614" y="3028950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₺3.000,00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19709" y="3543300"/>
            <a:ext cx="4667133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00000"/>
          </a:blip>
          <a:stretch>
            <a:fillRect/>
          </a:stretch>
        </p:blipFill>
        <p:spPr>
          <a:xfrm>
            <a:off x="6762580" y="3695699"/>
            <a:ext cx="219069" cy="19049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67373" y="3676649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Google Play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72485" y="3657600"/>
            <a:ext cx="57148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₺800,00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19709" y="4171950"/>
            <a:ext cx="4667133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00000"/>
          </a:blip>
          <a:stretch>
            <a:fillRect/>
          </a:stretch>
        </p:blipFill>
        <p:spPr>
          <a:xfrm>
            <a:off x="6762580" y="4324349"/>
            <a:ext cx="190495" cy="19049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048323" y="43053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Dosya Depolama Alani (CDN)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9614" y="4286250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₺2.000,00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19709" y="4800600"/>
            <a:ext cx="4667133" cy="485775"/>
          </a:xfrm>
          <a:prstGeom prst="roundRect">
            <a:avLst>
              <a:gd name="adj" fmla="val 3137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2580" y="4952999"/>
            <a:ext cx="20" cy="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4FC3F7"/>
                </a:solidFill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8323" y="4933950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SMS Hizmeti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9614" y="4914900"/>
            <a:ext cx="71435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₺</a:t>
            </a: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5.000,00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619709" y="5476875"/>
            <a:ext cx="4667133" cy="1609724"/>
          </a:xfrm>
          <a:prstGeom prst="roundRect">
            <a:avLst>
              <a:gd name="adj" fmla="val 9467"/>
            </a:avLst>
          </a:prstGeom>
          <a:solidFill>
            <a:srgbClr val="4FC3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>
            <a:alphaModFix amt="10000000000"/>
          </a:blip>
          <a:stretch>
            <a:fillRect/>
          </a:stretch>
        </p:blipFill>
        <p:spPr>
          <a:xfrm>
            <a:off x="6762580" y="5657850"/>
            <a:ext cx="238119" cy="19049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95947" y="5619750"/>
            <a:ext cx="138109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Geliştirme Maliyeti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2580" y="5972175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Geliştirici aylik ücret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53416" y="5972175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₺</a:t>
            </a:r>
            <a:r>
              <a:rPr sz="956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150.000,00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2580" y="6296024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Toplam geliştirme süresi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86782" y="6296024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6 Hafta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2580" y="6619875"/>
            <a:ext cx="12001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Geliştirme maliyeti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53416" y="6619875"/>
            <a:ext cx="7905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₺225.000,00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19709" y="7486650"/>
            <a:ext cx="60958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TOPLAM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067673" y="7439024"/>
            <a:ext cx="121916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CC80"/>
                </a:solidFill>
                <a:latin typeface="Source Sans Pro"/>
                <a:rFonts ascii="Source Sans Pro" hAnsi="Source Sans Pro" eastAsia="Source Sans Pro" cs="Source Sans Pro"/>
              </a:rPr>
              <a:t>₺240.800,00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6733" y="7981949"/>
            <a:ext cx="34098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OtoAvrupa | Araç Servis Takip Mobil Uygulaması (MVP)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